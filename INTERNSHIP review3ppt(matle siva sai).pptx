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85" d="100"/>
          <a:sy n="85" d="100"/>
        </p:scale>
        <p:origin x="70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/>
      <dgm:spPr/>
      <dgm:t>
        <a:bodyPr/>
        <a:lstStyle/>
        <a:p>
          <a:pPr>
            <a:buNone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Initial Phase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</a:p>
        <a:p>
          <a:pPr>
            <a:buNone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Understanding the internal workflows, project objectives, system architecture, and tools used for the software development.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0"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Development Phase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</a:p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Acrive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involvement in application development, including frontend implementation using React JS, backend data handling using SQL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0"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Improvement Phase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</a:p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Refinement of existing features by optimizing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ui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components, improving database queries and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enchancing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API performance and reliability.</a:t>
          </a: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08F7B120-0CAB-40AA-843B-451907E6BAFE}">
      <dgm:prSet/>
      <dgm:spPr/>
      <dgm:t>
        <a:bodyPr/>
        <a:lstStyle/>
        <a:p>
          <a:r>
            <a:rPr lang="en-US" b="1" dirty="0"/>
            <a:t>Review Phase:</a:t>
          </a:r>
          <a:endParaRPr lang="en-IN" dirty="0"/>
        </a:p>
      </dgm:t>
    </dgm:pt>
    <dgm:pt modelId="{686D61D1-A815-466F-9F5B-F3F97336B878}" type="parTrans" cxnId="{AE03969E-87C4-40EE-A98A-6844F80D50D8}">
      <dgm:prSet/>
      <dgm:spPr/>
      <dgm:t>
        <a:bodyPr/>
        <a:lstStyle/>
        <a:p>
          <a:endParaRPr lang="en-IN"/>
        </a:p>
      </dgm:t>
    </dgm:pt>
    <dgm:pt modelId="{9F5D5655-50CB-453E-A239-F01AF9022605}" type="sibTrans" cxnId="{AE03969E-87C4-40EE-A98A-6844F80D50D8}">
      <dgm:prSet/>
      <dgm:spPr/>
      <dgm:t>
        <a:bodyPr/>
        <a:lstStyle/>
        <a:p>
          <a:endParaRPr lang="en-IN"/>
        </a:p>
      </dgm:t>
    </dgm:pt>
    <dgm:pt modelId="{AD446B02-8C9E-4191-82C2-C193DBAB9B53}">
      <dgm:prSet/>
      <dgm:spPr/>
      <dgm:t>
        <a:bodyPr/>
        <a:lstStyle/>
        <a:p>
          <a:r>
            <a:rPr lang="en-US" dirty="0"/>
            <a:t>Regular code reviews, testing, debugging, and feedback sessions with the reporting manager to ensure correctness, performance, and adherence to standards.</a:t>
          </a:r>
          <a:endParaRPr lang="en-IN" dirty="0"/>
        </a:p>
      </dgm:t>
    </dgm:pt>
    <dgm:pt modelId="{D2F4D8C2-523B-4AC4-BC52-16A2A244C8F9}" type="parTrans" cxnId="{E40B0E1D-BEED-45D9-B5EC-78B925355709}">
      <dgm:prSet/>
      <dgm:spPr/>
      <dgm:t>
        <a:bodyPr/>
        <a:lstStyle/>
        <a:p>
          <a:endParaRPr lang="en-IN"/>
        </a:p>
      </dgm:t>
    </dgm:pt>
    <dgm:pt modelId="{43A887B2-1553-4E25-82DE-52A9A3AF10DB}" type="sibTrans" cxnId="{E40B0E1D-BEED-45D9-B5EC-78B925355709}">
      <dgm:prSet/>
      <dgm:spPr/>
      <dgm:t>
        <a:bodyPr/>
        <a:lstStyle/>
        <a:p>
          <a:endParaRPr lang="en-IN"/>
        </a:p>
      </dgm:t>
    </dgm:pt>
    <dgm:pt modelId="{DB7D428C-A724-4018-BB97-C93BF0F40F5E}">
      <dgm:prSet/>
      <dgm:spPr/>
      <dgm:t>
        <a:bodyPr/>
        <a:lstStyle/>
        <a:p>
          <a:r>
            <a:rPr lang="en-US" dirty="0"/>
            <a:t>Regular code reviews, testing, debugging, and feedback sessions with the reporting manager to ensure correctness, performance, and adherence to standards.</a:t>
          </a:r>
          <a:endParaRPr lang="en-IN" dirty="0"/>
        </a:p>
      </dgm:t>
    </dgm:pt>
    <dgm:pt modelId="{783B5EC5-FDF4-4381-B443-A1F8BB01870D}" type="parTrans" cxnId="{52A0298E-B4EE-42EB-B95D-06FEB76C54A1}">
      <dgm:prSet/>
      <dgm:spPr/>
      <dgm:t>
        <a:bodyPr/>
        <a:lstStyle/>
        <a:p>
          <a:endParaRPr lang="en-IN"/>
        </a:p>
      </dgm:t>
    </dgm:pt>
    <dgm:pt modelId="{D0C657C9-29A4-42D8-A8B6-EF55C531E4C3}" type="sibTrans" cxnId="{52A0298E-B4EE-42EB-B95D-06FEB76C54A1}">
      <dgm:prSet/>
      <dgm:spPr/>
      <dgm:t>
        <a:bodyPr/>
        <a:lstStyle/>
        <a:p>
          <a:endParaRPr lang="en-IN"/>
        </a:p>
      </dgm:t>
    </dgm:pt>
    <dgm:pt modelId="{180AC323-D6FF-454C-85C6-C1AFC7EE2B3D}">
      <dgm:prSet/>
      <dgm:spPr/>
      <dgm:t>
        <a:bodyPr/>
        <a:lstStyle/>
        <a:p>
          <a:r>
            <a:rPr lang="en-US" b="1"/>
            <a:t>Review Phase:</a:t>
          </a:r>
          <a:endParaRPr lang="en-IN" dirty="0"/>
        </a:p>
      </dgm:t>
    </dgm:pt>
    <dgm:pt modelId="{CF008A41-66EE-4992-8238-C8F83923FB1D}" type="parTrans" cxnId="{91D0AD95-8E82-4A42-B672-F3BEAC46037B}">
      <dgm:prSet/>
      <dgm:spPr/>
      <dgm:t>
        <a:bodyPr/>
        <a:lstStyle/>
        <a:p>
          <a:endParaRPr lang="en-IN"/>
        </a:p>
      </dgm:t>
    </dgm:pt>
    <dgm:pt modelId="{76A52011-F243-4C77-BF38-409858E2F4A8}" type="sibTrans" cxnId="{91D0AD95-8E82-4A42-B672-F3BEAC46037B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861DD71D-0321-4FBC-9FBD-2B755EBD4517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6263DD5B-E716-456C-B0FA-469F6263647F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5B80407A-9F77-4794-8F8C-98CA98C4C7FD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B5E70A0A-D9AF-4EA7-B547-A48A96C589A1}" type="presOf" srcId="{08F7B120-0CAB-40AA-843B-451907E6BAFE}" destId="{98225A61-A0EC-450A-BED8-EF2E47E8FD18}" srcOrd="1" destOrd="0" presId="urn:microsoft.com/office/officeart/2011/layout/InterconnectedBlockProcess"/>
    <dgm:cxn modelId="{E40B0E1D-BEED-45D9-B5EC-78B925355709}" srcId="{5E92505A-51E0-4F78-B3C5-704ACF8710DE}" destId="{AD446B02-8C9E-4191-82C2-C193DBAB9B53}" srcOrd="1" destOrd="0" parTransId="{D2F4D8C2-523B-4AC4-BC52-16A2A244C8F9}" sibTransId="{43A887B2-1553-4E25-82DE-52A9A3AF10DB}"/>
    <dgm:cxn modelId="{E96F6E5D-6C62-49F1-BFB8-6E8622F53A0B}" type="presOf" srcId="{AD446B02-8C9E-4191-82C2-C193DBAB9B53}" destId="{98225A61-A0EC-450A-BED8-EF2E47E8FD18}" srcOrd="1" destOrd="1" presId="urn:microsoft.com/office/officeart/2011/layout/InterconnectedBlockProcess"/>
    <dgm:cxn modelId="{BC1FC661-307A-4154-B9DD-88FD01478C31}" type="presOf" srcId="{DB7D428C-A724-4018-BB97-C93BF0F40F5E}" destId="{8CAE5A4D-0C7B-48A6-917B-0B8433D0574B}" srcOrd="0" destOrd="1" presId="urn:microsoft.com/office/officeart/2011/layout/InterconnectedBlockProcess"/>
    <dgm:cxn modelId="{88B2FA4D-DEF9-4138-AB50-85716E6B1F71}" type="presOf" srcId="{9FED87C4-3F3B-4A18-9185-9F80CFEDEA2E}" destId="{6BCCFBA6-7A43-4631-AD7F-AFB10E1E6CD7}" srcOrd="1" destOrd="0" presId="urn:microsoft.com/office/officeart/2011/layout/InterconnectedBlockProcess"/>
    <dgm:cxn modelId="{C8AC094F-99AD-49B1-B3EF-9D3E06D24FD2}" type="presOf" srcId="{988D96B0-D16E-4763-B393-84178CF4FF50}" destId="{65257024-FAC0-4522-B139-1CC85B547BE8}" srcOrd="0" destOrd="0" presId="urn:microsoft.com/office/officeart/2011/layout/InterconnectedBlockProcess"/>
    <dgm:cxn modelId="{B3791C72-33BA-41D9-80CB-E1372E7F2459}" type="presOf" srcId="{65C051F6-A849-4495-A964-CD4C650B9C06}" destId="{5B80407A-9F77-4794-8F8C-98CA98C4C7FD}" srcOrd="0" destOrd="0" presId="urn:microsoft.com/office/officeart/2011/layout/InterconnectedBlockProcess"/>
    <dgm:cxn modelId="{A4673F76-143E-419D-A821-F2A4FC83945C}" type="presOf" srcId="{D471E45F-B026-44AA-9616-57E786AE80AF}" destId="{1C91D7E3-8940-4A33-9182-677DD5415901}" srcOrd="1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52A0298E-B4EE-42EB-B95D-06FEB76C54A1}" srcId="{65C051F6-A849-4495-A964-CD4C650B9C06}" destId="{DB7D428C-A724-4018-BB97-C93BF0F40F5E}" srcOrd="1" destOrd="0" parTransId="{783B5EC5-FDF4-4381-B443-A1F8BB01870D}" sibTransId="{D0C657C9-29A4-42D8-A8B6-EF55C531E4C3}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1D0AD95-8E82-4A42-B672-F3BEAC46037B}" srcId="{65C051F6-A849-4495-A964-CD4C650B9C06}" destId="{180AC323-D6FF-454C-85C6-C1AFC7EE2B3D}" srcOrd="0" destOrd="0" parTransId="{CF008A41-66EE-4992-8238-C8F83923FB1D}" sibTransId="{76A52011-F243-4C77-BF38-409858E2F4A8}"/>
    <dgm:cxn modelId="{AE03969E-87C4-40EE-A98A-6844F80D50D8}" srcId="{5E92505A-51E0-4F78-B3C5-704ACF8710DE}" destId="{08F7B120-0CAB-40AA-843B-451907E6BAFE}" srcOrd="0" destOrd="0" parTransId="{686D61D1-A815-466F-9F5B-F3F97336B878}" sibTransId="{9F5D5655-50CB-453E-A239-F01AF9022605}"/>
    <dgm:cxn modelId="{F3072EA2-ED59-487E-A82F-5E8C3FCA570C}" type="presOf" srcId="{AD446B02-8C9E-4191-82C2-C193DBAB9B53}" destId="{FC0F1314-3294-4A8C-8DCE-EB53E236164C}" srcOrd="0" destOrd="1" presId="urn:microsoft.com/office/officeart/2011/layout/InterconnectedBlockProcess"/>
    <dgm:cxn modelId="{AD8286A2-5EB5-4E00-B40C-B669D523D7FD}" type="presOf" srcId="{9FED87C4-3F3B-4A18-9185-9F80CFEDEA2E}" destId="{06F8D57B-EDF4-4CF4-8700-DC2CA3E3028E}" srcOrd="0" destOrd="0" presId="urn:microsoft.com/office/officeart/2011/layout/InterconnectedBlockProcess"/>
    <dgm:cxn modelId="{7D09FDB3-303C-44AF-982F-E380084C476A}" type="presOf" srcId="{7B3055AA-BF7C-46D0-9A9E-60087B9F57B4}" destId="{00BB3360-A9BB-4051-A4B1-1216F82F642C}" srcOrd="0" destOrd="0" presId="urn:microsoft.com/office/officeart/2011/layout/InterconnectedBlockProcess"/>
    <dgm:cxn modelId="{99CFBBB6-EF29-4D86-8F61-4D7AAC847DF0}" type="presOf" srcId="{180AC323-D6FF-454C-85C6-C1AFC7EE2B3D}" destId="{6263DD5B-E716-456C-B0FA-469F6263647F}" srcOrd="1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866D78C5-634C-42E6-BE5F-D6E5EA764C2A}" type="presOf" srcId="{DB7D428C-A724-4018-BB97-C93BF0F40F5E}" destId="{6263DD5B-E716-456C-B0FA-469F6263647F}" srcOrd="1" destOrd="1" presId="urn:microsoft.com/office/officeart/2011/layout/InterconnectedBlockProcess"/>
    <dgm:cxn modelId="{2153E8CB-4607-4946-A6A1-53AF5BD75887}" type="presOf" srcId="{08F7B120-0CAB-40AA-843B-451907E6BAFE}" destId="{FC0F1314-3294-4A8C-8DCE-EB53E236164C}" srcOrd="0" destOrd="0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29F144D4-62A0-412E-8FA6-D8422CB1B071}" type="presOf" srcId="{A59EC69B-8F3F-425B-819F-E8C557946AEE}" destId="{4C66D42D-7E6D-4563-AFDC-369C30B73F70}" srcOrd="0" destOrd="0" presId="urn:microsoft.com/office/officeart/2011/layout/InterconnectedBlockProcess"/>
    <dgm:cxn modelId="{45D626D5-9CC1-420F-87DF-7789EC3E4A66}" type="presOf" srcId="{D471E45F-B026-44AA-9616-57E786AE80AF}" destId="{A134CDD1-D85F-44EF-8BEE-9F99A855C1E6}" srcOrd="0" destOrd="0" presId="urn:microsoft.com/office/officeart/2011/layout/InterconnectedBlockProcess"/>
    <dgm:cxn modelId="{0BC0F5DC-EA1A-42EA-B8E9-F55F98242697}" type="presOf" srcId="{5E92505A-51E0-4F78-B3C5-704ACF8710DE}" destId="{2AAD338D-3122-4454-9A67-16BE024D44E3}" srcOrd="0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152B62EC-9DB5-4017-8581-08339ECB9C57}" type="presOf" srcId="{180AC323-D6FF-454C-85C6-C1AFC7EE2B3D}" destId="{8CAE5A4D-0C7B-48A6-917B-0B8433D0574B}" srcOrd="0" destOrd="0" presId="urn:microsoft.com/office/officeart/2011/layout/InterconnectedBlockProcess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0BB5FDF3-0E52-4C52-A76F-C42B84D37B9C}" type="presOf" srcId="{73DB572E-062D-41AD-8033-D361B8E583DB}" destId="{0D08ED52-6744-4369-B780-916B09984775}" srcOrd="1" destOrd="0" presId="urn:microsoft.com/office/officeart/2011/layout/InterconnectedBlockProcess"/>
    <dgm:cxn modelId="{3E40DBF5-00CD-46DB-BD8D-70602E551914}" type="presOf" srcId="{73DB572E-062D-41AD-8033-D361B8E583DB}" destId="{2532504F-5FE1-4C97-B485-F05E8885EACC}" srcOrd="0" destOrd="0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40A4A7A9-42C6-49E2-AD2A-6DA4520D6E06}" type="presParOf" srcId="{A6BCDA7B-D633-438F-B44D-CB4D60E5C492}" destId="{861DD71D-0321-4FBC-9FBD-2B755EBD4517}" srcOrd="0" destOrd="0" presId="urn:microsoft.com/office/officeart/2011/layout/InterconnectedBlockProcess"/>
    <dgm:cxn modelId="{20994D11-AEC3-4C62-81C9-6637EE3E3915}" type="presParOf" srcId="{861DD71D-0321-4FBC-9FBD-2B755EBD4517}" destId="{8CAE5A4D-0C7B-48A6-917B-0B8433D0574B}" srcOrd="0" destOrd="0" presId="urn:microsoft.com/office/officeart/2011/layout/InterconnectedBlockProcess"/>
    <dgm:cxn modelId="{02DA11BC-F9EE-482A-8210-C15EAE870D32}" type="presParOf" srcId="{A6BCDA7B-D633-438F-B44D-CB4D60E5C492}" destId="{6263DD5B-E716-456C-B0FA-469F6263647F}" srcOrd="1" destOrd="0" presId="urn:microsoft.com/office/officeart/2011/layout/InterconnectedBlockProcess"/>
    <dgm:cxn modelId="{935988AB-4B16-4BA9-AD85-CDA200343E2B}" type="presParOf" srcId="{A6BCDA7B-D633-438F-B44D-CB4D60E5C492}" destId="{5B80407A-9F77-4794-8F8C-98CA98C4C7FD}" srcOrd="2" destOrd="0" presId="urn:microsoft.com/office/officeart/2011/layout/InterconnectedBlockProcess"/>
    <dgm:cxn modelId="{4A5EF66B-17FD-4567-94C3-F4F22FEB7933}" type="presParOf" srcId="{A6BCDA7B-D633-438F-B44D-CB4D60E5C492}" destId="{EA3B7F60-AEEC-41A8-8A2C-D3679EFCD073}" srcOrd="3" destOrd="0" presId="urn:microsoft.com/office/officeart/2011/layout/InterconnectedBlockProcess"/>
    <dgm:cxn modelId="{FB34D243-6E51-4CCC-8BC8-EC6A9F349898}" type="presParOf" srcId="{EA3B7F60-AEEC-41A8-8A2C-D3679EFCD073}" destId="{FC0F1314-3294-4A8C-8DCE-EB53E236164C}" srcOrd="0" destOrd="0" presId="urn:microsoft.com/office/officeart/2011/layout/InterconnectedBlockProcess"/>
    <dgm:cxn modelId="{418CAA17-63A5-4C4B-A9CD-476AB1C55796}" type="presParOf" srcId="{A6BCDA7B-D633-438F-B44D-CB4D60E5C492}" destId="{98225A61-A0EC-450A-BED8-EF2E47E8FD18}" srcOrd="4" destOrd="0" presId="urn:microsoft.com/office/officeart/2011/layout/InterconnectedBlockProcess"/>
    <dgm:cxn modelId="{FF1BC301-DFF7-4F7A-B13A-381EA588B815}" type="presParOf" srcId="{A6BCDA7B-D633-438F-B44D-CB4D60E5C492}" destId="{2AAD338D-3122-4454-9A67-16BE024D44E3}" srcOrd="5" destOrd="0" presId="urn:microsoft.com/office/officeart/2011/layout/InterconnectedBlockProcess"/>
    <dgm:cxn modelId="{BA4E6B77-B9F8-4F9B-B0BD-D4CBD8D4AD96}" type="presParOf" srcId="{A6BCDA7B-D633-438F-B44D-CB4D60E5C492}" destId="{96AFCF47-32CA-4C44-9E3C-782007B7112E}" srcOrd="6" destOrd="0" presId="urn:microsoft.com/office/officeart/2011/layout/InterconnectedBlockProcess"/>
    <dgm:cxn modelId="{D6172A68-89B1-4B15-9730-926D6D554FF5}" type="presParOf" srcId="{96AFCF47-32CA-4C44-9E3C-782007B7112E}" destId="{2532504F-5FE1-4C97-B485-F05E8885EACC}" srcOrd="0" destOrd="0" presId="urn:microsoft.com/office/officeart/2011/layout/InterconnectedBlockProcess"/>
    <dgm:cxn modelId="{97AB4D64-736B-4F20-BE01-965A331EF425}" type="presParOf" srcId="{A6BCDA7B-D633-438F-B44D-CB4D60E5C492}" destId="{0D08ED52-6744-4369-B780-916B09984775}" srcOrd="7" destOrd="0" presId="urn:microsoft.com/office/officeart/2011/layout/InterconnectedBlockProcess"/>
    <dgm:cxn modelId="{9E6EA721-E351-4B1E-97A0-EABC99242047}" type="presParOf" srcId="{A6BCDA7B-D633-438F-B44D-CB4D60E5C492}" destId="{4C66D42D-7E6D-4563-AFDC-369C30B73F70}" srcOrd="8" destOrd="0" presId="urn:microsoft.com/office/officeart/2011/layout/InterconnectedBlockProcess"/>
    <dgm:cxn modelId="{725440C3-CE4F-44D1-A0B5-E2A1C785F952}" type="presParOf" srcId="{A6BCDA7B-D633-438F-B44D-CB4D60E5C492}" destId="{C1269CE6-C767-48CC-AAFD-A238D1FFDABA}" srcOrd="9" destOrd="0" presId="urn:microsoft.com/office/officeart/2011/layout/InterconnectedBlockProcess"/>
    <dgm:cxn modelId="{623476E4-C04C-4AE3-A63C-1B626A62C31E}" type="presParOf" srcId="{C1269CE6-C767-48CC-AAFD-A238D1FFDABA}" destId="{06F8D57B-EDF4-4CF4-8700-DC2CA3E3028E}" srcOrd="0" destOrd="0" presId="urn:microsoft.com/office/officeart/2011/layout/InterconnectedBlockProcess"/>
    <dgm:cxn modelId="{342AAAE9-8F9F-4887-9842-BC81770D2E5C}" type="presParOf" srcId="{A6BCDA7B-D633-438F-B44D-CB4D60E5C492}" destId="{6BCCFBA6-7A43-4631-AD7F-AFB10E1E6CD7}" srcOrd="10" destOrd="0" presId="urn:microsoft.com/office/officeart/2011/layout/InterconnectedBlockProcess"/>
    <dgm:cxn modelId="{56BEE5EA-F5AE-420D-A231-003BDA560518}" type="presParOf" srcId="{A6BCDA7B-D633-438F-B44D-CB4D60E5C492}" destId="{00BB3360-A9BB-4051-A4B1-1216F82F642C}" srcOrd="11" destOrd="0" presId="urn:microsoft.com/office/officeart/2011/layout/InterconnectedBlockProcess"/>
    <dgm:cxn modelId="{4BBE90DB-BA40-4711-8B0F-6CC4EFD9CA20}" type="presParOf" srcId="{A6BCDA7B-D633-438F-B44D-CB4D60E5C492}" destId="{7305DF14-0FF5-45E4-8B19-015814092DBD}" srcOrd="12" destOrd="0" presId="urn:microsoft.com/office/officeart/2011/layout/InterconnectedBlockProcess"/>
    <dgm:cxn modelId="{5F717A67-CC6B-4471-9646-EC1E532B0B1C}" type="presParOf" srcId="{7305DF14-0FF5-45E4-8B19-015814092DBD}" destId="{A134CDD1-D85F-44EF-8BEE-9F99A855C1E6}" srcOrd="0" destOrd="0" presId="urn:microsoft.com/office/officeart/2011/layout/InterconnectedBlockProcess"/>
    <dgm:cxn modelId="{812C4511-645F-42CE-BF30-1863D586D704}" type="presParOf" srcId="{A6BCDA7B-D633-438F-B44D-CB4D60E5C492}" destId="{1C91D7E3-8940-4A33-9182-677DD5415901}" srcOrd="13" destOrd="0" presId="urn:microsoft.com/office/officeart/2011/layout/InterconnectedBlockProcess"/>
    <dgm:cxn modelId="{5C253751-BEA1-4879-9209-59091EF5A1E4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Review Phase:</a:t>
          </a:r>
          <a:endParaRPr lang="en-IN" sz="1200" kern="1200" dirty="0"/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Regular code reviews, testing, debugging, and feedback sessions with the reporting manager to ensure correctness, performance, and adherence to standards.</a:t>
          </a:r>
          <a:endParaRPr lang="en-IN" sz="1200" kern="1200" dirty="0"/>
        </a:p>
      </dsp:txBody>
      <dsp:txXfrm>
        <a:off x="7335949" y="811639"/>
        <a:ext cx="1116055" cy="3246556"/>
      </dsp:txXfrm>
    </dsp:sp>
    <dsp:sp modelId="{5B80407A-9F77-4794-8F8C-98CA98C4C7FD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Review Phase:</a:t>
          </a:r>
          <a:endParaRPr lang="en-IN" sz="1200" kern="1200" dirty="0"/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Regular code reviews, testing, debugging, and feedback sessions with the reporting manager to ensure correctness, performance, and adherence to standards.</a:t>
          </a:r>
          <a:endParaRPr lang="en-IN" sz="1200" kern="1200" dirty="0"/>
        </a:p>
      </dsp:txBody>
      <dsp:txXfrm>
        <a:off x="6060823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Improvement Phase</a:t>
          </a: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Refinement of existing features by optimizing </a:t>
          </a:r>
          <a:r>
            <a:rPr lang="en-US" sz="12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ui</a:t>
          </a: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components, improving database queries and </a:t>
          </a:r>
          <a:r>
            <a:rPr lang="en-US" sz="12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enchancing</a:t>
          </a: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API performance and reliability.</a:t>
          </a: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Development Phase</a:t>
          </a: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Acrive</a:t>
          </a: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involvement in application development, including frontend implementation using React JS, backend data handling using SQL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Initial Phase</a:t>
          </a: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Understanding the internal workflows, project objectives, system architecture, and tools used for the software development.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06/03/2026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06-03-2026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Mr. Shankar J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B TECH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Dr.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Pravinth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Raja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Ms.Nisha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Robin Rohit 	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Review-3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SOFTWARE DEVELOPMENT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507387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Matle</a:t>
                      </a: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siva</a:t>
                      </a: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sai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20221CBC0034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8CBC01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Rail Wheel Factory (RWF) is a premier industrial unit under </a:t>
            </a:r>
            <a:r>
              <a:rPr lang="en-US" b="1" dirty="0"/>
              <a:t>Indian Railways</a:t>
            </a:r>
            <a:r>
              <a:rPr lang="en-US" dirty="0"/>
              <a:t>, located in </a:t>
            </a:r>
            <a:r>
              <a:rPr lang="en-US" b="1" dirty="0"/>
              <a:t>Yelahanka, Bengaluru</a:t>
            </a:r>
            <a:r>
              <a:rPr lang="en-US" dirty="0"/>
              <a:t>. Established in </a:t>
            </a:r>
            <a:r>
              <a:rPr lang="en-US" b="1" dirty="0"/>
              <a:t>1984</a:t>
            </a:r>
            <a:r>
              <a:rPr lang="en-US" dirty="0"/>
              <a:t>, the organization specializes in the </a:t>
            </a:r>
            <a:r>
              <a:rPr lang="en-US" b="1" dirty="0"/>
              <a:t>manufacturing of railway wheels, axles, and wheelsets</a:t>
            </a:r>
            <a:r>
              <a:rPr lang="en-US" dirty="0"/>
              <a:t> used in passenger coaches, freight wagons, and locomotives across the Indian Railways network.</a:t>
            </a:r>
          </a:p>
          <a:p>
            <a:r>
              <a:rPr lang="en-US" dirty="0"/>
              <a:t>RWF plays a critical role in supporting India’s railway infrastructure by producing high-quality components that meet strict </a:t>
            </a:r>
            <a:r>
              <a:rPr lang="en-US" b="1" dirty="0"/>
              <a:t>safety, durability, and performance standards</a:t>
            </a:r>
            <a:r>
              <a:rPr lang="en-US" dirty="0"/>
              <a:t>. The factory follows advanced </a:t>
            </a:r>
            <a:r>
              <a:rPr lang="en-US" b="1" dirty="0"/>
              <a:t>metallurgical processes</a:t>
            </a:r>
            <a:r>
              <a:rPr lang="en-US" dirty="0"/>
              <a:t>, precision machining, heat treatment, and rigorous quality inspection procedures to ensure reliability and compliance with national and international specifications.</a:t>
            </a:r>
          </a:p>
          <a:p>
            <a:r>
              <a:rPr lang="en-US" dirty="0"/>
              <a:t>The organization emphasizes </a:t>
            </a:r>
            <a:r>
              <a:rPr lang="en-US" b="1" dirty="0"/>
              <a:t>engineering excellence, operational efficiency, and continuous improvement</a:t>
            </a:r>
            <a:r>
              <a:rPr lang="en-US" dirty="0"/>
              <a:t>, while also adopting modern manufacturing practices and automation. Rail Wheel Factory contributes significantly to the </a:t>
            </a:r>
            <a:r>
              <a:rPr lang="en-US" b="1" dirty="0"/>
              <a:t>self-reliance (</a:t>
            </a:r>
            <a:r>
              <a:rPr lang="en-US" b="1" dirty="0" err="1"/>
              <a:t>Atmanirbhar</a:t>
            </a:r>
            <a:r>
              <a:rPr lang="en-US" b="1" dirty="0"/>
              <a:t> Bharat)</a:t>
            </a:r>
            <a:r>
              <a:rPr lang="en-US" dirty="0"/>
              <a:t> initiative by reducing dependency on imports for critical railway components.</a:t>
            </a:r>
          </a:p>
          <a:p>
            <a:r>
              <a:rPr lang="en-US" dirty="0"/>
              <a:t>The internship environment at Rail Wheel Factory provides practical exposure to </a:t>
            </a:r>
            <a:r>
              <a:rPr lang="en-US" b="1" dirty="0"/>
              <a:t>real-world industrial operations</a:t>
            </a:r>
            <a:r>
              <a:rPr lang="en-US" dirty="0"/>
              <a:t>, allowing students to understand manufacturing workflows, quality assurance systems, safety protocols, and organizational discipline under the guidance of experienced railway engineers and technical officers.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Assigned Domain:</a:t>
            </a:r>
            <a:r>
              <a:rPr lang="en-US" dirty="0"/>
              <a:t> Software Development</a:t>
            </a:r>
          </a:p>
          <a:p>
            <a:r>
              <a:rPr lang="en-US" dirty="0"/>
              <a:t>The internship focused on developing web-based applications for internal systems at </a:t>
            </a:r>
            <a:r>
              <a:rPr lang="en-US" b="1" dirty="0"/>
              <a:t>Rail Wheel Factory</a:t>
            </a:r>
            <a:r>
              <a:rPr lang="en-US" dirty="0"/>
              <a:t>. The work involved </a:t>
            </a:r>
            <a:r>
              <a:rPr lang="en-US" b="1" dirty="0"/>
              <a:t>frontend development using React JS</a:t>
            </a:r>
            <a:r>
              <a:rPr lang="en-US" dirty="0"/>
              <a:t>, </a:t>
            </a:r>
            <a:r>
              <a:rPr lang="en-US" b="1" dirty="0"/>
              <a:t>backend data handling using SQL</a:t>
            </a:r>
            <a:r>
              <a:rPr lang="en-US" dirty="0"/>
              <a:t>, and </a:t>
            </a:r>
            <a:r>
              <a:rPr lang="en-US" b="1" dirty="0"/>
              <a:t>API management</a:t>
            </a:r>
            <a:r>
              <a:rPr lang="en-US" dirty="0"/>
              <a:t> for smooth communication between application layers.</a:t>
            </a:r>
          </a:p>
          <a:p>
            <a:r>
              <a:rPr lang="en-US" dirty="0"/>
              <a:t>The intern worked on building responsive user interfaces, integrating REST APIs, managing database queries, and ensuring efficient data flow between frontend and backend systems.</a:t>
            </a:r>
          </a:p>
          <a:p>
            <a:r>
              <a:rPr lang="en-US" b="1" dirty="0"/>
              <a:t>Technologies Used:</a:t>
            </a:r>
            <a:endParaRPr lang="en-US" dirty="0"/>
          </a:p>
          <a:p>
            <a:r>
              <a:rPr lang="en-US" dirty="0"/>
              <a:t>Frontend: React JS</a:t>
            </a:r>
          </a:p>
          <a:p>
            <a:r>
              <a:rPr lang="en-US" dirty="0"/>
              <a:t>Backend / Database: SQL</a:t>
            </a:r>
          </a:p>
          <a:p>
            <a:r>
              <a:rPr lang="en-US" dirty="0"/>
              <a:t>API Management: REST APIs, Postman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 internship work was carried out as part of a </a:t>
            </a:r>
            <a:r>
              <a:rPr lang="en-US" b="1" dirty="0"/>
              <a:t>software development team</a:t>
            </a:r>
            <a:r>
              <a:rPr lang="en-US" dirty="0"/>
              <a:t> at </a:t>
            </a:r>
            <a:r>
              <a:rPr lang="en-US" b="1" dirty="0"/>
              <a:t>Rail Wheel Factory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Team Members: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Jeevan Kishore N</a:t>
            </a:r>
          </a:p>
          <a:p>
            <a:pPr marL="0" indent="0">
              <a:buNone/>
            </a:pPr>
            <a:r>
              <a:rPr lang="en-US" dirty="0"/>
              <a:t>   Nithin K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Matle</a:t>
            </a:r>
            <a:r>
              <a:rPr lang="en-US" dirty="0"/>
              <a:t> Siva Sai</a:t>
            </a:r>
          </a:p>
          <a:p>
            <a:pPr marL="0" indent="0">
              <a:buNone/>
            </a:pPr>
            <a:r>
              <a:rPr lang="en-US" b="1" dirty="0"/>
              <a:t>Reporting Manager:</a:t>
            </a:r>
            <a:br>
              <a:rPr lang="en-US" dirty="0"/>
            </a:br>
            <a:r>
              <a:rPr lang="en-US" dirty="0"/>
              <a:t>The intern reported to </a:t>
            </a:r>
            <a:r>
              <a:rPr lang="en-US" b="1" dirty="0"/>
              <a:t>Apparao</a:t>
            </a:r>
            <a:r>
              <a:rPr lang="en-US" dirty="0"/>
              <a:t>, a </a:t>
            </a:r>
            <a:r>
              <a:rPr lang="en-US" b="1" dirty="0"/>
              <a:t>Senior Software Developer</a:t>
            </a:r>
            <a:r>
              <a:rPr lang="en-US" dirty="0"/>
              <a:t> at Rail Wheel Factory, who was responsible for assigning tasks, guiding development activities, and overseeing overall work management throughout the internship period.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One of the initial challenges was understanding the </a:t>
            </a:r>
            <a:r>
              <a:rPr lang="en-US" b="1" dirty="0"/>
              <a:t>existing system architecture</a:t>
            </a:r>
            <a:r>
              <a:rPr lang="en-US" dirty="0"/>
              <a:t> and adapting to a professional work environment.</a:t>
            </a:r>
            <a:br>
              <a:rPr lang="en-US" dirty="0"/>
            </a:br>
            <a:r>
              <a:rPr lang="en-US" dirty="0"/>
              <a:t>Technical challenges included learning and applying </a:t>
            </a:r>
            <a:r>
              <a:rPr lang="en-US" b="1" dirty="0"/>
              <a:t>React JS</a:t>
            </a:r>
            <a:r>
              <a:rPr lang="en-US" dirty="0"/>
              <a:t>, writing optimized </a:t>
            </a:r>
            <a:r>
              <a:rPr lang="en-US" b="1" dirty="0"/>
              <a:t>SQL queries</a:t>
            </a:r>
            <a:r>
              <a:rPr lang="en-US" dirty="0"/>
              <a:t>, and managing </a:t>
            </a:r>
            <a:r>
              <a:rPr lang="en-US" b="1" dirty="0"/>
              <a:t>API integrations</a:t>
            </a:r>
            <a:r>
              <a:rPr lang="en-US" dirty="0"/>
              <a:t> effectively.</a:t>
            </a:r>
            <a:br>
              <a:rPr lang="en-US" dirty="0"/>
            </a:br>
            <a:r>
              <a:rPr lang="en-US" dirty="0"/>
              <a:t>Additionally, coordinating tasks within the team and following structured development and documentation practices required continuous improvement.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develop user-friendly web interfaces using </a:t>
            </a:r>
            <a:r>
              <a:rPr lang="en-US" altLang="en-US" b="1" dirty="0">
                <a:latin typeface="Arial" panose="020B0604020202020204" pitchFamily="34" charset="0"/>
              </a:rPr>
              <a:t>React JS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manage and process application data efficiently using </a:t>
            </a:r>
            <a:r>
              <a:rPr lang="en-US" altLang="en-US" b="1" dirty="0">
                <a:latin typeface="Arial" panose="020B0604020202020204" pitchFamily="34" charset="0"/>
              </a:rPr>
              <a:t>SQL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integrate and manage </a:t>
            </a:r>
            <a:r>
              <a:rPr lang="en-US" altLang="en-US" b="1" dirty="0">
                <a:latin typeface="Arial" panose="020B0604020202020204" pitchFamily="34" charset="0"/>
              </a:rPr>
              <a:t>REST APIs</a:t>
            </a:r>
            <a:r>
              <a:rPr lang="en-US" altLang="en-US" dirty="0">
                <a:latin typeface="Arial" panose="020B0604020202020204" pitchFamily="34" charset="0"/>
              </a:rPr>
              <a:t> for smooth frontend–backend communication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support digitalization and improve internal software workflows at </a:t>
            </a:r>
            <a:r>
              <a:rPr lang="en-US" altLang="en-US" b="1" dirty="0">
                <a:latin typeface="Arial" panose="020B0604020202020204" pitchFamily="34" charset="0"/>
              </a:rPr>
              <a:t>Rail Wheel Factory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Before development, existing solutions and technologies were studied:</a:t>
            </a:r>
          </a:p>
          <a:p>
            <a:r>
              <a:rPr lang="en-US" dirty="0"/>
              <a:t>Internal management systems used in industries</a:t>
            </a:r>
          </a:p>
          <a:p>
            <a:r>
              <a:rPr lang="en-US" dirty="0"/>
              <a:t>Web application architecture models</a:t>
            </a:r>
          </a:p>
          <a:p>
            <a:r>
              <a:rPr lang="en-US" dirty="0"/>
              <a:t>React-based UI systems</a:t>
            </a:r>
          </a:p>
          <a:p>
            <a:r>
              <a:rPr lang="en-US" dirty="0"/>
              <a:t>Database-driven workflow automation</a:t>
            </a:r>
          </a:p>
          <a:p>
            <a:r>
              <a:rPr lang="en-US" dirty="0"/>
              <a:t>API-based system integration</a:t>
            </a:r>
          </a:p>
          <a:p>
            <a:r>
              <a:rPr lang="en-US" dirty="0"/>
              <a:t>This study helped design an efficient and scalable solution.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/>
              <a:t>The proposed system aims to:</a:t>
            </a:r>
          </a:p>
          <a:p>
            <a:r>
              <a:rPr lang="en-IN" dirty="0"/>
              <a:t>Digitize internal workflow processes</a:t>
            </a:r>
          </a:p>
          <a:p>
            <a:r>
              <a:rPr lang="en-IN" dirty="0"/>
              <a:t>Provide user-friendly dashboards</a:t>
            </a:r>
          </a:p>
          <a:p>
            <a:r>
              <a:rPr lang="en-IN" dirty="0"/>
              <a:t>Enable secure data handling</a:t>
            </a:r>
          </a:p>
          <a:p>
            <a:r>
              <a:rPr lang="en-IN" dirty="0"/>
              <a:t>Improve accessibility of records</a:t>
            </a:r>
          </a:p>
          <a:p>
            <a:r>
              <a:rPr lang="en-IN" dirty="0"/>
              <a:t>Automate manual data tracking</a:t>
            </a:r>
          </a:p>
          <a:p>
            <a:r>
              <a:rPr lang="en-IN" dirty="0"/>
              <a:t>The system integrates frontend UI, backend database, and APIs.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Problem Statement - 01</a:t>
            </a:r>
            <a:br>
              <a:rPr lang="en-US" dirty="0"/>
            </a:br>
            <a:r>
              <a:rPr lang="en-US" dirty="0"/>
              <a:t>The existing internal software systems at </a:t>
            </a:r>
            <a:r>
              <a:rPr lang="en-US" b="1" dirty="0"/>
              <a:t>Rail Wheel Factory (RWF)</a:t>
            </a:r>
            <a:r>
              <a:rPr lang="en-US" dirty="0"/>
              <a:t> support operational workflows but have limitations in terms of </a:t>
            </a:r>
            <a:r>
              <a:rPr lang="en-US" b="1" dirty="0"/>
              <a:t>user interface design, ease of navigation, and workflow efficiency</a:t>
            </a:r>
            <a:r>
              <a:rPr lang="en-US" dirty="0"/>
              <a:t>. Some modules rely on outdated UI structures, making it difficult for users to access information quickly and perform tasks efficiently.</a:t>
            </a:r>
          </a:p>
          <a:p>
            <a:r>
              <a:rPr lang="en-US" dirty="0"/>
              <a:t>Manual data handling and limited integration between modules can lead to delays, redundant work, and increased chances of operational errors.</a:t>
            </a:r>
          </a:p>
          <a:p>
            <a:r>
              <a:rPr lang="en-US" dirty="0"/>
              <a:t>Therefore, there is a need to </a:t>
            </a:r>
            <a:r>
              <a:rPr lang="en-US" b="1" dirty="0"/>
              <a:t>enhance and modernize the existing system</a:t>
            </a:r>
            <a:r>
              <a:rPr lang="en-US" dirty="0"/>
              <a:t> by:</a:t>
            </a:r>
          </a:p>
          <a:p>
            <a:r>
              <a:rPr lang="en-US" dirty="0"/>
              <a:t>Improving </a:t>
            </a:r>
            <a:r>
              <a:rPr lang="en-US" b="1" dirty="0"/>
              <a:t>UI/UX design</a:t>
            </a:r>
            <a:r>
              <a:rPr lang="en-US" dirty="0"/>
              <a:t> for better usability and accessibility</a:t>
            </a:r>
          </a:p>
          <a:p>
            <a:r>
              <a:rPr lang="en-US" dirty="0"/>
              <a:t>Developing responsive web interfaces</a:t>
            </a:r>
          </a:p>
          <a:p>
            <a:r>
              <a:rPr lang="en-US" dirty="0"/>
              <a:t>Integrating improved data workflows</a:t>
            </a:r>
          </a:p>
          <a:p>
            <a:r>
              <a:rPr lang="en-US" dirty="0"/>
              <a:t>Reducing manual intervention</a:t>
            </a:r>
          </a:p>
          <a:p>
            <a:r>
              <a:rPr lang="en-US" dirty="0"/>
              <a:t>Providing faster and clearer data access</a:t>
            </a:r>
          </a:p>
          <a:p>
            <a:r>
              <a:rPr lang="en-US" dirty="0"/>
              <a:t>The project focuses on </a:t>
            </a:r>
            <a:r>
              <a:rPr lang="en-US" b="1" dirty="0"/>
              <a:t>upgrading and developing system modules</a:t>
            </a:r>
            <a:r>
              <a:rPr lang="en-US" dirty="0"/>
              <a:t> to improve overall operational efficiency and user experience within RWF’s internal software environment.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/>
              <a:t>Hardware Requirements</a:t>
            </a:r>
          </a:p>
          <a:p>
            <a:r>
              <a:rPr lang="en-IN" dirty="0"/>
              <a:t>Computer System with </a:t>
            </a:r>
            <a:r>
              <a:rPr lang="en-IN" b="1" dirty="0"/>
              <a:t>minimum Intel i3 processor or higher</a:t>
            </a:r>
            <a:endParaRPr lang="en-IN" dirty="0"/>
          </a:p>
          <a:p>
            <a:r>
              <a:rPr lang="en-IN" b="1" dirty="0"/>
              <a:t>Minimum 12 GB RAM</a:t>
            </a:r>
            <a:r>
              <a:rPr lang="en-IN" dirty="0"/>
              <a:t> recommended for smooth development and testing</a:t>
            </a:r>
          </a:p>
          <a:p>
            <a:r>
              <a:rPr lang="en-IN" dirty="0"/>
              <a:t>Stable </a:t>
            </a:r>
            <a:r>
              <a:rPr lang="en-IN" b="1" dirty="0"/>
              <a:t>Internet connectivity</a:t>
            </a:r>
            <a:endParaRPr lang="en-IN" dirty="0"/>
          </a:p>
          <a:p>
            <a:r>
              <a:rPr lang="en-IN" dirty="0"/>
              <a:t>Server system or cloud server for hosting applications</a:t>
            </a:r>
          </a:p>
          <a:p>
            <a:r>
              <a:rPr lang="en-IN" b="1" dirty="0"/>
              <a:t>Dedicated graphics card not required</a:t>
            </a:r>
            <a:r>
              <a:rPr lang="en-IN" dirty="0"/>
              <a:t>, as the system focuses on web application development</a:t>
            </a:r>
          </a:p>
          <a:p>
            <a:r>
              <a:rPr lang="en-IN" b="1" dirty="0"/>
              <a:t>Software Requirements</a:t>
            </a:r>
          </a:p>
          <a:p>
            <a:r>
              <a:rPr lang="en-IN" dirty="0"/>
              <a:t>React JS (Frontend development)</a:t>
            </a:r>
          </a:p>
          <a:p>
            <a:r>
              <a:rPr lang="en-IN" dirty="0"/>
              <a:t>SQL Database (Data storage and management)</a:t>
            </a:r>
          </a:p>
          <a:p>
            <a:r>
              <a:rPr lang="en-IN" dirty="0"/>
              <a:t>Node.js / Backend APIs</a:t>
            </a:r>
          </a:p>
          <a:p>
            <a:r>
              <a:rPr lang="en-IN" dirty="0"/>
              <a:t>Postman (API testing)</a:t>
            </a:r>
          </a:p>
          <a:p>
            <a:r>
              <a:rPr lang="en-IN" dirty="0"/>
              <a:t>Web browsers (Chrome, Edge, Firefox, etc.)</a:t>
            </a:r>
          </a:p>
          <a:p>
            <a:r>
              <a:rPr lang="en-IN" dirty="0"/>
              <a:t>Code editor (VS Code or similar IDE)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Faster workflow execution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Improved data accessibility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Reduced manual errors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User-friendly interface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Scalable and maintainable system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Supports future expansion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40000" lnSpcReduction="20000"/>
          </a:bodyPr>
          <a:lstStyle/>
          <a:p>
            <a:r>
              <a:rPr lang="en-IN" b="1" dirty="0"/>
              <a:t>System Design</a:t>
            </a:r>
          </a:p>
          <a:p>
            <a:r>
              <a:rPr lang="en-IN" b="1" dirty="0"/>
              <a:t>System Design Overview</a:t>
            </a:r>
            <a:endParaRPr lang="en-IN" dirty="0"/>
          </a:p>
          <a:p>
            <a:r>
              <a:rPr lang="en-IN" dirty="0"/>
              <a:t>The developed system follows a </a:t>
            </a:r>
            <a:r>
              <a:rPr lang="en-IN" b="1" dirty="0"/>
              <a:t>three-tier architecture</a:t>
            </a:r>
            <a:r>
              <a:rPr lang="en-IN" dirty="0"/>
              <a:t> to ensure scalability, maintainability, and efficient data processing.</a:t>
            </a:r>
          </a:p>
          <a:p>
            <a:r>
              <a:rPr lang="en-IN" b="1" dirty="0"/>
              <a:t>1. Presentation Layer (Frontend)</a:t>
            </a:r>
            <a:endParaRPr lang="en-IN" dirty="0"/>
          </a:p>
          <a:p>
            <a:r>
              <a:rPr lang="en-IN" dirty="0"/>
              <a:t>Developed using </a:t>
            </a:r>
            <a:r>
              <a:rPr lang="en-IN" b="1" dirty="0"/>
              <a:t>React JS</a:t>
            </a:r>
            <a:endParaRPr lang="en-IN" dirty="0"/>
          </a:p>
          <a:p>
            <a:r>
              <a:rPr lang="en-IN" dirty="0"/>
              <a:t>Provides responsive user interfaces and dashboards</a:t>
            </a:r>
          </a:p>
          <a:p>
            <a:r>
              <a:rPr lang="en-IN" dirty="0"/>
              <a:t>Handles user input and displays data dynamically</a:t>
            </a:r>
          </a:p>
          <a:p>
            <a:r>
              <a:rPr lang="en-IN" b="1" dirty="0"/>
              <a:t>2. Application Layer (API / Backend)</a:t>
            </a:r>
            <a:endParaRPr lang="en-IN" dirty="0"/>
          </a:p>
          <a:p>
            <a:r>
              <a:rPr lang="en-IN" dirty="0"/>
              <a:t>Uses </a:t>
            </a:r>
            <a:r>
              <a:rPr lang="en-IN" b="1" dirty="0"/>
              <a:t>REST APIs</a:t>
            </a:r>
            <a:r>
              <a:rPr lang="en-IN" dirty="0"/>
              <a:t> to manage communication between frontend and database</a:t>
            </a:r>
          </a:p>
          <a:p>
            <a:r>
              <a:rPr lang="en-IN" dirty="0"/>
              <a:t>Processes user requests and performs business logic</a:t>
            </a:r>
          </a:p>
          <a:p>
            <a:r>
              <a:rPr lang="en-IN" dirty="0"/>
              <a:t>Ensures secure and structured data exchange</a:t>
            </a:r>
          </a:p>
          <a:p>
            <a:r>
              <a:rPr lang="en-IN" b="1" dirty="0"/>
              <a:t>3. Data Layer (Database)</a:t>
            </a:r>
            <a:endParaRPr lang="en-IN" dirty="0"/>
          </a:p>
          <a:p>
            <a:r>
              <a:rPr lang="en-IN" b="1" dirty="0"/>
              <a:t>SQL database</a:t>
            </a:r>
            <a:r>
              <a:rPr lang="en-IN" dirty="0"/>
              <a:t> used for storing and managing application data</a:t>
            </a:r>
          </a:p>
          <a:p>
            <a:r>
              <a:rPr lang="en-IN" dirty="0"/>
              <a:t>Handles data retrieval, updates, and storage operations</a:t>
            </a:r>
          </a:p>
          <a:p>
            <a:r>
              <a:rPr lang="en-IN" dirty="0"/>
              <a:t>Maintains data integrity and reliability</a:t>
            </a:r>
          </a:p>
          <a:p>
            <a:r>
              <a:rPr lang="en-IN" b="1" dirty="0"/>
              <a:t>System Workflow:</a:t>
            </a:r>
            <a:br>
              <a:rPr lang="en-IN" dirty="0"/>
            </a:br>
            <a:r>
              <a:rPr lang="en-IN" dirty="0"/>
              <a:t>User → React Interface → API Request → SQL Database → Response → Display to User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5432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50%)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Frontend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Database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↑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617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6956602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/>
              <a:t>The source code and project repositories developed during the internship at </a:t>
            </a:r>
            <a:r>
              <a:rPr lang="en-US" b="1" dirty="0"/>
              <a:t>Rail Wheel Factory</a:t>
            </a:r>
            <a:r>
              <a:rPr lang="en-US" dirty="0"/>
              <a:t> are maintained under organizational access control and are protected by confidentiality policies.</a:t>
            </a:r>
            <a:br>
              <a:rPr lang="en-US" dirty="0"/>
            </a:br>
            <a:r>
              <a:rPr lang="en-US" dirty="0"/>
              <a:t>Due to </a:t>
            </a:r>
            <a:r>
              <a:rPr lang="en-US" b="1" dirty="0"/>
              <a:t>security and Non-Disclosure Agreement (NDA) restrictions</a:t>
            </a:r>
            <a:r>
              <a:rPr lang="en-US" dirty="0"/>
              <a:t>, the GitHub repositories and implementation details are </a:t>
            </a:r>
            <a:r>
              <a:rPr lang="en-US" b="1" dirty="0"/>
              <a:t>not publicly accessible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17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7034</TotalTime>
  <Words>1355</Words>
  <Application>Microsoft Office PowerPoint</Application>
  <PresentationFormat>Widescreen</PresentationFormat>
  <Paragraphs>176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Implementation (At least 50%)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harshitha thamatam</cp:lastModifiedBy>
  <cp:revision>722</cp:revision>
  <dcterms:created xsi:type="dcterms:W3CDTF">2022-10-14T07:18:17Z</dcterms:created>
  <dcterms:modified xsi:type="dcterms:W3CDTF">2026-03-06T08:22:03Z</dcterms:modified>
</cp:coreProperties>
</file>