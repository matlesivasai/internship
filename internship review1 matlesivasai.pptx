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Phase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Acrive involvement in application development, including frontend implementation using React JS, backend data handling using SQL.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Improvement Phase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Refinement of existing features by optimizing </a:t>
          </a:r>
          <a:r>
            <a:rPr lang="en-US" sz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ui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 components, improving database queries and </a:t>
          </a:r>
          <a:r>
            <a:rPr lang="en-US" sz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enchancing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API performance and reliability.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>
            <a:buNone/>
          </a:pPr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Initial Phase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internal workflows, project objectives, system architecture, and tools used for the software development.</a:t>
          </a:r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26DBE64E-CF5C-4DD8-9715-A35D76984196}">
      <dgm:prSet custT="1"/>
      <dgm:spPr/>
      <dgm:t>
        <a:bodyPr/>
        <a:lstStyle/>
        <a:p>
          <a:r>
            <a:rPr lang="en-US" sz="1400" b="1" dirty="0"/>
            <a:t>Review Phase:</a:t>
          </a:r>
          <a:endParaRPr lang="en-IN" sz="1400" b="1" dirty="0"/>
        </a:p>
      </dgm:t>
    </dgm:pt>
    <dgm:pt modelId="{9FA34EB1-822B-4712-AEA7-6AEFF531380D}" type="parTrans" cxnId="{C8428378-3F35-4ADA-90F0-561751EA311F}">
      <dgm:prSet/>
      <dgm:spPr/>
      <dgm:t>
        <a:bodyPr/>
        <a:lstStyle/>
        <a:p>
          <a:endParaRPr lang="en-IN"/>
        </a:p>
      </dgm:t>
    </dgm:pt>
    <dgm:pt modelId="{2F70D766-1EBC-4A33-A2DE-D06A8C49C521}" type="sibTrans" cxnId="{C8428378-3F35-4ADA-90F0-561751EA311F}">
      <dgm:prSet/>
      <dgm:spPr/>
      <dgm:t>
        <a:bodyPr/>
        <a:lstStyle/>
        <a:p>
          <a:endParaRPr lang="en-IN"/>
        </a:p>
      </dgm:t>
    </dgm:pt>
    <dgm:pt modelId="{70E367FF-AB1A-4E62-A46F-99B32C7CD7B1}">
      <dgm:prSet/>
      <dgm:spPr/>
      <dgm:t>
        <a:bodyPr/>
        <a:lstStyle/>
        <a:p>
          <a:r>
            <a:rPr lang="en-US" sz="1200" dirty="0"/>
            <a:t>Regular code reviews, testing, debugging, and feedback sessions with the reporting manager to ensure correctness, performance, and adherence to standards.</a:t>
          </a:r>
          <a:endParaRPr lang="en-IN" sz="1200" dirty="0"/>
        </a:p>
      </dgm:t>
    </dgm:pt>
    <dgm:pt modelId="{6798C8D3-B770-4213-B748-F91B47083A5F}" type="parTrans" cxnId="{84E5D0E6-7A5F-428A-9508-2E7626FAF34B}">
      <dgm:prSet/>
      <dgm:spPr/>
      <dgm:t>
        <a:bodyPr/>
        <a:lstStyle/>
        <a:p>
          <a:endParaRPr lang="en-IN"/>
        </a:p>
      </dgm:t>
    </dgm:pt>
    <dgm:pt modelId="{EF166FBE-976B-4F8B-BBED-E20C50551AEC}" type="sibTrans" cxnId="{84E5D0E6-7A5F-428A-9508-2E7626FAF34B}">
      <dgm:prSet/>
      <dgm:spPr/>
      <dgm:t>
        <a:bodyPr/>
        <a:lstStyle/>
        <a:p>
          <a:endParaRPr lang="en-IN"/>
        </a:p>
      </dgm:t>
    </dgm:pt>
    <dgm:pt modelId="{403A22E9-3374-4084-9445-AA9A853FE0CB}">
      <dgm:prSet custT="1"/>
      <dgm:spPr/>
      <dgm:t>
        <a:bodyPr/>
        <a:lstStyle/>
        <a:p>
          <a:r>
            <a:rPr lang="en-US" sz="1400" b="1" dirty="0"/>
            <a:t>Final phase</a:t>
          </a:r>
          <a:r>
            <a:rPr lang="en-US" sz="1200" dirty="0"/>
            <a:t>:</a:t>
          </a:r>
          <a:br>
            <a:rPr lang="en-US" sz="1200" dirty="0"/>
          </a:br>
          <a:r>
            <a:rPr lang="en-US" sz="1200" dirty="0"/>
            <a:t>Completion of documentation, submission of final work, knowledge transfer, and overall internship evaluation.</a:t>
          </a:r>
          <a:endParaRPr lang="en-IN" sz="1200" dirty="0"/>
        </a:p>
      </dgm:t>
    </dgm:pt>
    <dgm:pt modelId="{AE98F260-9E64-49B1-9602-5AF9DBC6BED2}" type="parTrans" cxnId="{8FF87535-4133-46DD-9BE3-DEF1D6384B7B}">
      <dgm:prSet/>
      <dgm:spPr/>
    </dgm:pt>
    <dgm:pt modelId="{6E3C1CBF-A6EB-4FB0-A877-8A05D77B9D43}" type="sibTrans" cxnId="{8FF87535-4133-46DD-9BE3-DEF1D6384B7B}">
      <dgm:prSet/>
      <dgm:spPr/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1166510B-C100-417B-99A1-CB559D125B7C}" type="presOf" srcId="{403A22E9-3374-4084-9445-AA9A853FE0CB}" destId="{8CAE5A4D-0C7B-48A6-917B-0B8433D0574B}" srcOrd="0" destOrd="0" presId="urn:microsoft.com/office/officeart/2011/layout/InterconnectedBlockProcess"/>
    <dgm:cxn modelId="{3C4D7A0B-8383-49B4-92B2-6D7D85293152}" type="presOf" srcId="{70E367FF-AB1A-4E62-A46F-99B32C7CD7B1}" destId="{FC0F1314-3294-4A8C-8DCE-EB53E236164C}" srcOrd="0" destOrd="1" presId="urn:microsoft.com/office/officeart/2011/layout/InterconnectedBlockProcess"/>
    <dgm:cxn modelId="{23D5D91D-F827-4BC0-8DDC-3A955889D21B}" type="presOf" srcId="{73DB572E-062D-41AD-8033-D361B8E583DB}" destId="{0D08ED52-6744-4369-B780-916B09984775}" srcOrd="1" destOrd="0" presId="urn:microsoft.com/office/officeart/2011/layout/InterconnectedBlockProcess"/>
    <dgm:cxn modelId="{C1AFEA1F-3AB8-4F21-A7E4-1D7337EF94C1}" type="presOf" srcId="{70E367FF-AB1A-4E62-A46F-99B32C7CD7B1}" destId="{98225A61-A0EC-450A-BED8-EF2E47E8FD18}" srcOrd="1" destOrd="1" presId="urn:microsoft.com/office/officeart/2011/layout/InterconnectedBlockProcess"/>
    <dgm:cxn modelId="{C5287720-46FA-4132-815A-5B7DE780D57E}" type="presOf" srcId="{5E92505A-51E0-4F78-B3C5-704ACF8710DE}" destId="{2AAD338D-3122-4454-9A67-16BE024D44E3}" srcOrd="0" destOrd="0" presId="urn:microsoft.com/office/officeart/2011/layout/InterconnectedBlockProcess"/>
    <dgm:cxn modelId="{30C94428-B81A-4166-ACDB-BC9E5E10FB0F}" type="presOf" srcId="{9FED87C4-3F3B-4A18-9185-9F80CFEDEA2E}" destId="{6BCCFBA6-7A43-4631-AD7F-AFB10E1E6CD7}" srcOrd="1" destOrd="0" presId="urn:microsoft.com/office/officeart/2011/layout/InterconnectedBlockProcess"/>
    <dgm:cxn modelId="{1CC02434-DF03-49C6-A304-4A7A4B0DFB92}" type="presOf" srcId="{D471E45F-B026-44AA-9616-57E786AE80AF}" destId="{1C91D7E3-8940-4A33-9182-677DD5415901}" srcOrd="1" destOrd="0" presId="urn:microsoft.com/office/officeart/2011/layout/InterconnectedBlockProcess"/>
    <dgm:cxn modelId="{8FF87535-4133-46DD-9BE3-DEF1D6384B7B}" srcId="{65C051F6-A849-4495-A964-CD4C650B9C06}" destId="{403A22E9-3374-4084-9445-AA9A853FE0CB}" srcOrd="0" destOrd="0" parTransId="{AE98F260-9E64-49B1-9602-5AF9DBC6BED2}" sibTransId="{6E3C1CBF-A6EB-4FB0-A877-8A05D77B9D43}"/>
    <dgm:cxn modelId="{EB540E65-6820-475D-98E4-A80F3FA80A88}" type="presOf" srcId="{D471E45F-B026-44AA-9616-57E786AE80AF}" destId="{A134CDD1-D85F-44EF-8BEE-9F99A855C1E6}" srcOrd="0" destOrd="0" presId="urn:microsoft.com/office/officeart/2011/layout/InterconnectedBlockProcess"/>
    <dgm:cxn modelId="{6C786548-0216-4F2F-B520-C8FFA15CF7BC}" type="presOf" srcId="{9FED87C4-3F3B-4A18-9185-9F80CFEDEA2E}" destId="{06F8D57B-EDF4-4CF4-8700-DC2CA3E3028E}" srcOrd="0" destOrd="0" presId="urn:microsoft.com/office/officeart/2011/layout/InterconnectedBlockProcess"/>
    <dgm:cxn modelId="{C8428378-3F35-4ADA-90F0-561751EA311F}" srcId="{5E92505A-51E0-4F78-B3C5-704ACF8710DE}" destId="{26DBE64E-CF5C-4DD8-9715-A35D76984196}" srcOrd="0" destOrd="0" parTransId="{9FA34EB1-822B-4712-AEA7-6AEFF531380D}" sibTransId="{2F70D766-1EBC-4A33-A2DE-D06A8C49C521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B4ACA87B-7916-4D2E-8909-33DD5C31769E}" type="presOf" srcId="{26DBE64E-CF5C-4DD8-9715-A35D76984196}" destId="{98225A61-A0EC-450A-BED8-EF2E47E8FD18}" srcOrd="1" destOrd="0" presId="urn:microsoft.com/office/officeart/2011/layout/InterconnectedBlockProcess"/>
    <dgm:cxn modelId="{4192F085-50DB-4783-B47F-08D5B492BC7D}" type="presOf" srcId="{7B3055AA-BF7C-46D0-9A9E-60087B9F57B4}" destId="{00BB3360-A9BB-4051-A4B1-1216F82F642C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2548869F-9781-4947-B46C-0EF0AE116839}" type="presOf" srcId="{988D96B0-D16E-4763-B393-84178CF4FF50}" destId="{65257024-FAC0-4522-B139-1CC85B547BE8}" srcOrd="0" destOrd="0" presId="urn:microsoft.com/office/officeart/2011/layout/InterconnectedBlockProcess"/>
    <dgm:cxn modelId="{E823D3B4-A7BD-485F-8A24-E6B91682C9F6}" type="presOf" srcId="{26DBE64E-CF5C-4DD8-9715-A35D76984196}" destId="{FC0F1314-3294-4A8C-8DCE-EB53E236164C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4E5D0E6-7A5F-428A-9508-2E7626FAF34B}" srcId="{5E92505A-51E0-4F78-B3C5-704ACF8710DE}" destId="{70E367FF-AB1A-4E62-A46F-99B32C7CD7B1}" srcOrd="1" destOrd="0" parTransId="{6798C8D3-B770-4213-B748-F91B47083A5F}" sibTransId="{EF166FBE-976B-4F8B-BBED-E20C50551AEC}"/>
    <dgm:cxn modelId="{2B5FDCE7-C5BD-40E4-AE75-023A193E10D6}" type="presOf" srcId="{65C051F6-A849-4495-A964-CD4C650B9C06}" destId="{C73DE52A-2F45-45E6-AD0E-D5BEAF609F8E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82529EB-ACAE-4C60-A7CF-39F295E2F481}" type="presOf" srcId="{A59EC69B-8F3F-425B-819F-E8C557946AEE}" destId="{4C66D42D-7E6D-4563-AFDC-369C30B73F70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E61152F0-23FC-46AE-93D5-EEADBC456592}" type="presOf" srcId="{73DB572E-062D-41AD-8033-D361B8E583DB}" destId="{2532504F-5FE1-4C97-B485-F05E8885EACC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2DF1FF9-34EE-42EE-B820-6FD3A234A596}" type="presOf" srcId="{403A22E9-3374-4084-9445-AA9A853FE0CB}" destId="{928B615F-0F8D-4140-A638-0FBB8F5BF1E9}" srcOrd="1" destOrd="0" presId="urn:microsoft.com/office/officeart/2011/layout/InterconnectedBlockProcess"/>
    <dgm:cxn modelId="{999AAB87-C6BF-402D-89E8-71DD65896C64}" type="presParOf" srcId="{A6BCDA7B-D633-438F-B44D-CB4D60E5C492}" destId="{0EA92EC0-9C6F-4663-B822-B1E8E3DCB13B}" srcOrd="0" destOrd="0" presId="urn:microsoft.com/office/officeart/2011/layout/InterconnectedBlockProcess"/>
    <dgm:cxn modelId="{56D19F06-DDCF-45CB-BCB3-8C58B4850196}" type="presParOf" srcId="{0EA92EC0-9C6F-4663-B822-B1E8E3DCB13B}" destId="{8CAE5A4D-0C7B-48A6-917B-0B8433D0574B}" srcOrd="0" destOrd="0" presId="urn:microsoft.com/office/officeart/2011/layout/InterconnectedBlockProcess"/>
    <dgm:cxn modelId="{6B3A92F8-8FC0-4B0F-8665-FAE768572A0D}" type="presParOf" srcId="{A6BCDA7B-D633-438F-B44D-CB4D60E5C492}" destId="{928B615F-0F8D-4140-A638-0FBB8F5BF1E9}" srcOrd="1" destOrd="0" presId="urn:microsoft.com/office/officeart/2011/layout/InterconnectedBlockProcess"/>
    <dgm:cxn modelId="{27DB709F-03F0-4EDE-B1A1-CD42B083D96A}" type="presParOf" srcId="{A6BCDA7B-D633-438F-B44D-CB4D60E5C492}" destId="{C73DE52A-2F45-45E6-AD0E-D5BEAF609F8E}" srcOrd="2" destOrd="0" presId="urn:microsoft.com/office/officeart/2011/layout/InterconnectedBlockProcess"/>
    <dgm:cxn modelId="{E1114340-897F-40BC-B4DA-B53BF3C10DB2}" type="presParOf" srcId="{A6BCDA7B-D633-438F-B44D-CB4D60E5C492}" destId="{EA3B7F60-AEEC-41A8-8A2C-D3679EFCD073}" srcOrd="3" destOrd="0" presId="urn:microsoft.com/office/officeart/2011/layout/InterconnectedBlockProcess"/>
    <dgm:cxn modelId="{C6D483B0-2A00-4342-A854-5BA8D1DED7D6}" type="presParOf" srcId="{EA3B7F60-AEEC-41A8-8A2C-D3679EFCD073}" destId="{FC0F1314-3294-4A8C-8DCE-EB53E236164C}" srcOrd="0" destOrd="0" presId="urn:microsoft.com/office/officeart/2011/layout/InterconnectedBlockProcess"/>
    <dgm:cxn modelId="{67BD362A-5EC1-403E-A4DE-24618B6216E7}" type="presParOf" srcId="{A6BCDA7B-D633-438F-B44D-CB4D60E5C492}" destId="{98225A61-A0EC-450A-BED8-EF2E47E8FD18}" srcOrd="4" destOrd="0" presId="urn:microsoft.com/office/officeart/2011/layout/InterconnectedBlockProcess"/>
    <dgm:cxn modelId="{E6BC5C2C-6109-4134-ACC5-76275562B128}" type="presParOf" srcId="{A6BCDA7B-D633-438F-B44D-CB4D60E5C492}" destId="{2AAD338D-3122-4454-9A67-16BE024D44E3}" srcOrd="5" destOrd="0" presId="urn:microsoft.com/office/officeart/2011/layout/InterconnectedBlockProcess"/>
    <dgm:cxn modelId="{6721E4C7-6C9B-4045-A95D-A3ABE5910497}" type="presParOf" srcId="{A6BCDA7B-D633-438F-B44D-CB4D60E5C492}" destId="{96AFCF47-32CA-4C44-9E3C-782007B7112E}" srcOrd="6" destOrd="0" presId="urn:microsoft.com/office/officeart/2011/layout/InterconnectedBlockProcess"/>
    <dgm:cxn modelId="{7F135C16-B5C3-4B13-99DB-2F4A80328C70}" type="presParOf" srcId="{96AFCF47-32CA-4C44-9E3C-782007B7112E}" destId="{2532504F-5FE1-4C97-B485-F05E8885EACC}" srcOrd="0" destOrd="0" presId="urn:microsoft.com/office/officeart/2011/layout/InterconnectedBlockProcess"/>
    <dgm:cxn modelId="{CA531BD5-2CFD-4F1C-AE65-1FA951A7C7F6}" type="presParOf" srcId="{A6BCDA7B-D633-438F-B44D-CB4D60E5C492}" destId="{0D08ED52-6744-4369-B780-916B09984775}" srcOrd="7" destOrd="0" presId="urn:microsoft.com/office/officeart/2011/layout/InterconnectedBlockProcess"/>
    <dgm:cxn modelId="{DC04D301-EA35-4234-8A33-A613920BF93F}" type="presParOf" srcId="{A6BCDA7B-D633-438F-B44D-CB4D60E5C492}" destId="{4C66D42D-7E6D-4563-AFDC-369C30B73F70}" srcOrd="8" destOrd="0" presId="urn:microsoft.com/office/officeart/2011/layout/InterconnectedBlockProcess"/>
    <dgm:cxn modelId="{78B223C5-E11A-4CB6-AC0C-B2CD88940288}" type="presParOf" srcId="{A6BCDA7B-D633-438F-B44D-CB4D60E5C492}" destId="{C1269CE6-C767-48CC-AAFD-A238D1FFDABA}" srcOrd="9" destOrd="0" presId="urn:microsoft.com/office/officeart/2011/layout/InterconnectedBlockProcess"/>
    <dgm:cxn modelId="{1A80640C-5C44-498A-A300-96FF01EED8F0}" type="presParOf" srcId="{C1269CE6-C767-48CC-AAFD-A238D1FFDABA}" destId="{06F8D57B-EDF4-4CF4-8700-DC2CA3E3028E}" srcOrd="0" destOrd="0" presId="urn:microsoft.com/office/officeart/2011/layout/InterconnectedBlockProcess"/>
    <dgm:cxn modelId="{A0685C88-F290-486A-A90F-482275CCA4C2}" type="presParOf" srcId="{A6BCDA7B-D633-438F-B44D-CB4D60E5C492}" destId="{6BCCFBA6-7A43-4631-AD7F-AFB10E1E6CD7}" srcOrd="10" destOrd="0" presId="urn:microsoft.com/office/officeart/2011/layout/InterconnectedBlockProcess"/>
    <dgm:cxn modelId="{8A1CF3F1-44DD-40AE-BDE8-BD5CD4A82647}" type="presParOf" srcId="{A6BCDA7B-D633-438F-B44D-CB4D60E5C492}" destId="{00BB3360-A9BB-4051-A4B1-1216F82F642C}" srcOrd="11" destOrd="0" presId="urn:microsoft.com/office/officeart/2011/layout/InterconnectedBlockProcess"/>
    <dgm:cxn modelId="{86C64100-7F30-4DE9-A397-00ABB34FDD5D}" type="presParOf" srcId="{A6BCDA7B-D633-438F-B44D-CB4D60E5C492}" destId="{7305DF14-0FF5-45E4-8B19-015814092DBD}" srcOrd="12" destOrd="0" presId="urn:microsoft.com/office/officeart/2011/layout/InterconnectedBlockProcess"/>
    <dgm:cxn modelId="{015BE2A2-D081-476A-89E4-0E42A204500D}" type="presParOf" srcId="{7305DF14-0FF5-45E4-8B19-015814092DBD}" destId="{A134CDD1-D85F-44EF-8BEE-9F99A855C1E6}" srcOrd="0" destOrd="0" presId="urn:microsoft.com/office/officeart/2011/layout/InterconnectedBlockProcess"/>
    <dgm:cxn modelId="{7B5C2017-CB89-48D6-840B-673831F532F6}" type="presParOf" srcId="{A6BCDA7B-D633-438F-B44D-CB4D60E5C492}" destId="{1C91D7E3-8940-4A33-9182-677DD5415901}" srcOrd="13" destOrd="0" presId="urn:microsoft.com/office/officeart/2011/layout/InterconnectedBlockProcess"/>
    <dgm:cxn modelId="{5D509574-C0DC-4DFE-96B9-B47DC7391CD4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Final phase</a:t>
          </a:r>
          <a:r>
            <a:rPr lang="en-US" sz="1200" kern="1200" dirty="0"/>
            <a:t>:</a:t>
          </a:r>
          <a:br>
            <a:rPr lang="en-US" sz="1200" kern="1200" dirty="0"/>
          </a:br>
          <a:r>
            <a:rPr lang="en-US" sz="1200" kern="1200" dirty="0"/>
            <a:t>Completion of documentation, submission of final work, knowledge transfer, and overall internship evaluation.</a:t>
          </a:r>
          <a:endParaRPr lang="en-IN" sz="1200" kern="1200" dirty="0"/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75" tIns="53975" rIns="53975" bIns="5397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b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Review Phase:</a:t>
          </a:r>
          <a:endParaRPr lang="en-IN" sz="1400" b="1" kern="1200" dirty="0"/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Regular code reviews, testing, debugging, and feedback sessions with the reporting manager to ensure correctness, performance, and adherence to standards.</a:t>
          </a:r>
          <a:endParaRPr lang="en-IN" sz="1200" kern="1200" dirty="0"/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75" tIns="53975" rIns="53975" bIns="5397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Improvement Phase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Refinement of existing features by optimizing </a:t>
          </a: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ui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components, improving database queries and </a:t>
          </a: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enchancing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API performance and reliability.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75" tIns="53975" rIns="53975" bIns="5397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Phase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Acrive involvement in application development, including frontend implementation using React JS, backend data handling using SQL.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75" tIns="53975" rIns="53975" bIns="5397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Initial Phase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internal workflows, project objectives, system architecture, and tools used for the software development.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975" tIns="53975" rIns="53975" bIns="5397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 Shankar J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 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Ms.Nisha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549286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Matle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siva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20221CBC0034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7CBC01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Rail Wheel Factory (RWF) is a premier industrial unit under </a:t>
            </a:r>
            <a:r>
              <a:rPr lang="en-US" b="1" dirty="0"/>
              <a:t>Indian Railways</a:t>
            </a:r>
            <a:r>
              <a:rPr lang="en-US" dirty="0"/>
              <a:t>, located in </a:t>
            </a:r>
            <a:r>
              <a:rPr lang="en-US" b="1" dirty="0"/>
              <a:t>Yelahanka, Bengaluru</a:t>
            </a:r>
            <a:r>
              <a:rPr lang="en-US" dirty="0"/>
              <a:t>. Established in </a:t>
            </a:r>
            <a:r>
              <a:rPr lang="en-US" b="1" dirty="0"/>
              <a:t>1984</a:t>
            </a:r>
            <a:r>
              <a:rPr lang="en-US" dirty="0"/>
              <a:t>, the organization specializes in the </a:t>
            </a:r>
            <a:r>
              <a:rPr lang="en-US" b="1" dirty="0"/>
              <a:t>manufacturing of railway wheels, axles, and wheelsets</a:t>
            </a:r>
            <a:r>
              <a:rPr lang="en-US" dirty="0"/>
              <a:t> used in passenger coaches, freight wagons, and locomotives across the Indian Railways network.</a:t>
            </a:r>
          </a:p>
          <a:p>
            <a:r>
              <a:rPr lang="en-US" dirty="0"/>
              <a:t>RWF plays a critical role in supporting India’s railway infrastructure by producing high-quality components that meet strict </a:t>
            </a:r>
            <a:r>
              <a:rPr lang="en-US" b="1" dirty="0"/>
              <a:t>safety, durability, and performance standards</a:t>
            </a:r>
            <a:r>
              <a:rPr lang="en-US" dirty="0"/>
              <a:t>. The factory follows advanced </a:t>
            </a:r>
            <a:r>
              <a:rPr lang="en-US" b="1" dirty="0"/>
              <a:t>metallurgical processes</a:t>
            </a:r>
            <a:r>
              <a:rPr lang="en-US" dirty="0"/>
              <a:t>, precision machining, heat treatment, and rigorous quality inspection procedures to ensure reliability and compliance with national and international specifications.</a:t>
            </a:r>
          </a:p>
          <a:p>
            <a:r>
              <a:rPr lang="en-US" dirty="0"/>
              <a:t>The organization emphasizes </a:t>
            </a:r>
            <a:r>
              <a:rPr lang="en-US" b="1" dirty="0"/>
              <a:t>engineering excellence, operational efficiency, and continuous improvement</a:t>
            </a:r>
            <a:r>
              <a:rPr lang="en-US" dirty="0"/>
              <a:t>, while also adopting modern manufacturing practices and automation. Rail Wheel Factory contributes significantly to the </a:t>
            </a:r>
            <a:r>
              <a:rPr lang="en-US" b="1" dirty="0"/>
              <a:t>self-reliance (</a:t>
            </a:r>
            <a:r>
              <a:rPr lang="en-US" b="1" dirty="0" err="1"/>
              <a:t>Atmanirbhar</a:t>
            </a:r>
            <a:r>
              <a:rPr lang="en-US" b="1" dirty="0"/>
              <a:t> Bharat)</a:t>
            </a:r>
            <a:r>
              <a:rPr lang="en-US" dirty="0"/>
              <a:t> initiative by reducing dependency on imports for critical railway components.</a:t>
            </a:r>
          </a:p>
          <a:p>
            <a:r>
              <a:rPr lang="en-US" dirty="0"/>
              <a:t>The internship environment at Rail Wheel Factory provides practical exposure to </a:t>
            </a:r>
            <a:r>
              <a:rPr lang="en-US" b="1" dirty="0"/>
              <a:t>real-world industrial operations</a:t>
            </a:r>
            <a:r>
              <a:rPr lang="en-US" dirty="0"/>
              <a:t>, allowing students to understand manufacturing workflows, quality assurance systems, safety protocols, and organizational discipline under the guidance of experienced railway engineers and technical officers.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Assigned Domain:</a:t>
            </a:r>
            <a:r>
              <a:rPr lang="en-US" dirty="0"/>
              <a:t> Software Development</a:t>
            </a:r>
          </a:p>
          <a:p>
            <a:r>
              <a:rPr lang="en-US" dirty="0"/>
              <a:t>The internship focused on developing web-based applications for internal systems at </a:t>
            </a:r>
            <a:r>
              <a:rPr lang="en-US" b="1" dirty="0"/>
              <a:t>Rail Wheel Factory</a:t>
            </a:r>
            <a:r>
              <a:rPr lang="en-US" dirty="0"/>
              <a:t>. The work involved </a:t>
            </a:r>
            <a:r>
              <a:rPr lang="en-US" b="1" dirty="0"/>
              <a:t>frontend development using React JS</a:t>
            </a:r>
            <a:r>
              <a:rPr lang="en-US" dirty="0"/>
              <a:t>, </a:t>
            </a:r>
            <a:r>
              <a:rPr lang="en-US" b="1" dirty="0"/>
              <a:t>backend data handling using SQL</a:t>
            </a:r>
            <a:r>
              <a:rPr lang="en-US" dirty="0"/>
              <a:t>, and </a:t>
            </a:r>
            <a:r>
              <a:rPr lang="en-US" b="1" dirty="0"/>
              <a:t>API management</a:t>
            </a:r>
            <a:r>
              <a:rPr lang="en-US" dirty="0"/>
              <a:t> for smooth communication between application layers.</a:t>
            </a:r>
          </a:p>
          <a:p>
            <a:r>
              <a:rPr lang="en-US" dirty="0"/>
              <a:t>The intern worked on building responsive user interfaces, integrating REST APIs, managing database queries, and ensuring efficient data flow between frontend and backend systems.</a:t>
            </a:r>
          </a:p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dirty="0"/>
              <a:t>Frontend: React JS</a:t>
            </a:r>
          </a:p>
          <a:p>
            <a:r>
              <a:rPr lang="en-US" dirty="0"/>
              <a:t>Backend / Database: SQL</a:t>
            </a:r>
          </a:p>
          <a:p>
            <a:r>
              <a:rPr lang="en-US" dirty="0"/>
              <a:t>API Management: REST APIs, Postman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internship work was carried out as part of a </a:t>
            </a:r>
            <a:r>
              <a:rPr lang="en-US" b="1" dirty="0"/>
              <a:t>software development team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Team Members: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Jeevan Kishore N</a:t>
            </a:r>
          </a:p>
          <a:p>
            <a:pPr marL="0" indent="0">
              <a:buNone/>
            </a:pPr>
            <a:r>
              <a:rPr lang="en-US" dirty="0"/>
              <a:t>   Nithin K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Matle</a:t>
            </a:r>
            <a:r>
              <a:rPr lang="en-US" dirty="0"/>
              <a:t> Siva Sai</a:t>
            </a:r>
          </a:p>
          <a:p>
            <a:pPr marL="0" indent="0">
              <a:buNone/>
            </a:pPr>
            <a:r>
              <a:rPr lang="en-US" b="1" dirty="0"/>
              <a:t>Reporting Manager:</a:t>
            </a:r>
            <a:br>
              <a:rPr lang="en-US" dirty="0"/>
            </a:br>
            <a:r>
              <a:rPr lang="en-US" dirty="0"/>
              <a:t>The intern reported to </a:t>
            </a:r>
            <a:r>
              <a:rPr lang="en-US" b="1" dirty="0"/>
              <a:t>Apparao</a:t>
            </a:r>
            <a:r>
              <a:rPr lang="en-US" dirty="0"/>
              <a:t>, a </a:t>
            </a:r>
            <a:r>
              <a:rPr lang="en-US" b="1" dirty="0"/>
              <a:t>Senior Software Developer</a:t>
            </a:r>
            <a:r>
              <a:rPr lang="en-US" dirty="0"/>
              <a:t> at Rail Wheel Factory, who was responsible for assigning tasks, guiding development activities, and overseeing overall work management throughout the internship period.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of the initial challenges was understanding the </a:t>
            </a:r>
            <a:r>
              <a:rPr lang="en-US" b="1" dirty="0"/>
              <a:t>existing system architecture</a:t>
            </a:r>
            <a:r>
              <a:rPr lang="en-US" dirty="0"/>
              <a:t> and adapting to a professional work environment.</a:t>
            </a:r>
            <a:br>
              <a:rPr lang="en-US" dirty="0"/>
            </a:br>
            <a:r>
              <a:rPr lang="en-US" dirty="0"/>
              <a:t>Technical challenges included learning and applying </a:t>
            </a:r>
            <a:r>
              <a:rPr lang="en-US" b="1" dirty="0"/>
              <a:t>React JS</a:t>
            </a:r>
            <a:r>
              <a:rPr lang="en-US" dirty="0"/>
              <a:t>, writing optimized </a:t>
            </a:r>
            <a:r>
              <a:rPr lang="en-US" b="1" dirty="0"/>
              <a:t>SQL queries</a:t>
            </a:r>
            <a:r>
              <a:rPr lang="en-US" dirty="0"/>
              <a:t>, and managing </a:t>
            </a:r>
            <a:r>
              <a:rPr lang="en-US" b="1" dirty="0"/>
              <a:t>API integrations</a:t>
            </a:r>
            <a:r>
              <a:rPr lang="en-US" dirty="0"/>
              <a:t> effectively.</a:t>
            </a:r>
            <a:br>
              <a:rPr lang="en-US" dirty="0"/>
            </a:br>
            <a:r>
              <a:rPr lang="en-US" dirty="0"/>
              <a:t>Additionally, coordinating tasks within the team and following structured development and documentation practices required continuous improvement.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F9AD7C-DC2E-47A5-3FAD-D862681C82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531" y="1071486"/>
            <a:ext cx="100770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user-friendly web interfaces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JS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manage and process application data efficiently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and manage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smooth frontend–backend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digitalization and improve internal software workflows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Rail Wheel Factory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75990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The source code and project repositories developed during the internship at </a:t>
            </a:r>
            <a:r>
              <a:rPr lang="en-US" b="1" dirty="0"/>
              <a:t>Rail Wheel Factory</a:t>
            </a:r>
            <a:r>
              <a:rPr lang="en-US" dirty="0"/>
              <a:t> are maintained under organizational access control and are protected by confidentiality policies.</a:t>
            </a:r>
            <a:br>
              <a:rPr lang="en-US" dirty="0"/>
            </a:br>
            <a:r>
              <a:rPr lang="en-US" dirty="0"/>
              <a:t>Due to </a:t>
            </a:r>
            <a:r>
              <a:rPr lang="en-US" b="1" dirty="0"/>
              <a:t>security and Non-Disclosure Agreement (NDA) restrictions</a:t>
            </a:r>
            <a:r>
              <a:rPr lang="en-US" dirty="0"/>
              <a:t>, the GitHub repositories and implementation details are </a:t>
            </a:r>
            <a:r>
              <a:rPr lang="en-US" b="1" dirty="0"/>
              <a:t>not publicly accessible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7042</TotalTime>
  <Words>824</Words>
  <Application>Microsoft Office PowerPoint</Application>
  <PresentationFormat>Widescreen</PresentationFormat>
  <Paragraphs>85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harshitha thamatam</cp:lastModifiedBy>
  <cp:revision>718</cp:revision>
  <dcterms:created xsi:type="dcterms:W3CDTF">2022-10-14T07:18:17Z</dcterms:created>
  <dcterms:modified xsi:type="dcterms:W3CDTF">2026-01-16T06:50:47Z</dcterms:modified>
</cp:coreProperties>
</file>